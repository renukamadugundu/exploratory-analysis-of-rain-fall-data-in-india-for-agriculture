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B15BA9-6B56-417A-9224-D849816F8885}" v="53" dt="2026-02-20T17:10:1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ka Madugundu" userId="39bfb2bc63dad4a8" providerId="LiveId" clId="{69627D36-1CA9-49DE-88AF-41BCB828FDA0}"/>
    <pc:docChg chg="custSel addSld delSld modSld sldOrd">
      <pc:chgData name="Renuka Madugundu" userId="39bfb2bc63dad4a8" providerId="LiveId" clId="{69627D36-1CA9-49DE-88AF-41BCB828FDA0}" dt="2026-02-20T17:11:12.146" v="665" actId="207"/>
      <pc:docMkLst>
        <pc:docMk/>
      </pc:docMkLst>
      <pc:sldChg chg="modSp mod ord">
        <pc:chgData name="Renuka Madugundu" userId="39bfb2bc63dad4a8" providerId="LiveId" clId="{69627D36-1CA9-49DE-88AF-41BCB828FDA0}" dt="2026-02-20T17:00:10.708" v="477"/>
        <pc:sldMkLst>
          <pc:docMk/>
          <pc:sldMk cId="3378300320" sldId="256"/>
        </pc:sldMkLst>
        <pc:spChg chg="mod">
          <ac:chgData name="Renuka Madugundu" userId="39bfb2bc63dad4a8" providerId="LiveId" clId="{69627D36-1CA9-49DE-88AF-41BCB828FDA0}" dt="2026-02-20T13:59:12.025" v="15" actId="207"/>
          <ac:spMkLst>
            <pc:docMk/>
            <pc:sldMk cId="3378300320" sldId="256"/>
            <ac:spMk id="2" creationId="{892114F5-02CF-C0D7-363B-38EA71DDE729}"/>
          </ac:spMkLst>
        </pc:spChg>
        <pc:spChg chg="mod">
          <ac:chgData name="Renuka Madugundu" userId="39bfb2bc63dad4a8" providerId="LiveId" clId="{69627D36-1CA9-49DE-88AF-41BCB828FDA0}" dt="2026-02-20T14:01:23.355" v="27" actId="120"/>
          <ac:spMkLst>
            <pc:docMk/>
            <pc:sldMk cId="3378300320" sldId="256"/>
            <ac:spMk id="3" creationId="{77DB31F8-E00A-38DA-FD0D-961186806A02}"/>
          </ac:spMkLst>
        </pc:spChg>
      </pc:sldChg>
      <pc:sldChg chg="modSp new mod">
        <pc:chgData name="Renuka Madugundu" userId="39bfb2bc63dad4a8" providerId="LiveId" clId="{69627D36-1CA9-49DE-88AF-41BCB828FDA0}" dt="2026-02-20T14:10:04.305" v="117" actId="20577"/>
        <pc:sldMkLst>
          <pc:docMk/>
          <pc:sldMk cId="948187277" sldId="257"/>
        </pc:sldMkLst>
        <pc:spChg chg="mod">
          <ac:chgData name="Renuka Madugundu" userId="39bfb2bc63dad4a8" providerId="LiveId" clId="{69627D36-1CA9-49DE-88AF-41BCB828FDA0}" dt="2026-02-20T14:08:59.621" v="84" actId="255"/>
          <ac:spMkLst>
            <pc:docMk/>
            <pc:sldMk cId="948187277" sldId="257"/>
            <ac:spMk id="2" creationId="{D33EB947-467A-3A76-5A7B-C43D7261F393}"/>
          </ac:spMkLst>
        </pc:spChg>
        <pc:spChg chg="mod">
          <ac:chgData name="Renuka Madugundu" userId="39bfb2bc63dad4a8" providerId="LiveId" clId="{69627D36-1CA9-49DE-88AF-41BCB828FDA0}" dt="2026-02-20T14:10:04.305" v="117" actId="20577"/>
          <ac:spMkLst>
            <pc:docMk/>
            <pc:sldMk cId="948187277" sldId="257"/>
            <ac:spMk id="3" creationId="{CDAD6B19-15F7-89E3-6ACD-994ECCFC0603}"/>
          </ac:spMkLst>
        </pc:spChg>
      </pc:sldChg>
      <pc:sldChg chg="modSp new mod">
        <pc:chgData name="Renuka Madugundu" userId="39bfb2bc63dad4a8" providerId="LiveId" clId="{69627D36-1CA9-49DE-88AF-41BCB828FDA0}" dt="2026-02-20T14:16:04.195" v="192" actId="255"/>
        <pc:sldMkLst>
          <pc:docMk/>
          <pc:sldMk cId="2885205694" sldId="258"/>
        </pc:sldMkLst>
        <pc:spChg chg="mod">
          <ac:chgData name="Renuka Madugundu" userId="39bfb2bc63dad4a8" providerId="LiveId" clId="{69627D36-1CA9-49DE-88AF-41BCB828FDA0}" dt="2026-02-20T14:13:43.627" v="175" actId="20577"/>
          <ac:spMkLst>
            <pc:docMk/>
            <pc:sldMk cId="2885205694" sldId="258"/>
            <ac:spMk id="2" creationId="{BF60EEEB-E620-B271-F152-264A4203649F}"/>
          </ac:spMkLst>
        </pc:spChg>
        <pc:spChg chg="mod">
          <ac:chgData name="Renuka Madugundu" userId="39bfb2bc63dad4a8" providerId="LiveId" clId="{69627D36-1CA9-49DE-88AF-41BCB828FDA0}" dt="2026-02-20T14:16:04.195" v="192" actId="255"/>
          <ac:spMkLst>
            <pc:docMk/>
            <pc:sldMk cId="2885205694" sldId="258"/>
            <ac:spMk id="3" creationId="{903596D7-8600-30AD-C779-AF4291325047}"/>
          </ac:spMkLst>
        </pc:spChg>
      </pc:sldChg>
      <pc:sldChg chg="new del">
        <pc:chgData name="Renuka Madugundu" userId="39bfb2bc63dad4a8" providerId="LiveId" clId="{69627D36-1CA9-49DE-88AF-41BCB828FDA0}" dt="2026-02-20T14:16:25.151" v="194" actId="2696"/>
        <pc:sldMkLst>
          <pc:docMk/>
          <pc:sldMk cId="294895287" sldId="259"/>
        </pc:sldMkLst>
      </pc:sldChg>
      <pc:sldChg chg="addSp delSp modSp new mod">
        <pc:chgData name="Renuka Madugundu" userId="39bfb2bc63dad4a8" providerId="LiveId" clId="{69627D36-1CA9-49DE-88AF-41BCB828FDA0}" dt="2026-02-20T14:25:21.503" v="312" actId="14100"/>
        <pc:sldMkLst>
          <pc:docMk/>
          <pc:sldMk cId="3352211810" sldId="259"/>
        </pc:sldMkLst>
        <pc:spChg chg="mod">
          <ac:chgData name="Renuka Madugundu" userId="39bfb2bc63dad4a8" providerId="LiveId" clId="{69627D36-1CA9-49DE-88AF-41BCB828FDA0}" dt="2026-02-20T14:24:08.266" v="300" actId="14100"/>
          <ac:spMkLst>
            <pc:docMk/>
            <pc:sldMk cId="3352211810" sldId="259"/>
            <ac:spMk id="2" creationId="{53BB0CE5-5CE1-15C4-B2F6-17A7E27F2156}"/>
          </ac:spMkLst>
        </pc:spChg>
        <pc:spChg chg="del mod">
          <ac:chgData name="Renuka Madugundu" userId="39bfb2bc63dad4a8" providerId="LiveId" clId="{69627D36-1CA9-49DE-88AF-41BCB828FDA0}" dt="2026-02-20T14:23:02.073" v="293" actId="21"/>
          <ac:spMkLst>
            <pc:docMk/>
            <pc:sldMk cId="3352211810" sldId="259"/>
            <ac:spMk id="3" creationId="{B9ACA662-DC26-EB32-88D2-925F98DD05DE}"/>
          </ac:spMkLst>
        </pc:spChg>
        <pc:spChg chg="add mod">
          <ac:chgData name="Renuka Madugundu" userId="39bfb2bc63dad4a8" providerId="LiveId" clId="{69627D36-1CA9-49DE-88AF-41BCB828FDA0}" dt="2026-02-20T14:23:43.576" v="299" actId="113"/>
          <ac:spMkLst>
            <pc:docMk/>
            <pc:sldMk cId="3352211810" sldId="259"/>
            <ac:spMk id="4" creationId="{3D4694AC-F656-3876-A09C-25D7A02347A2}"/>
          </ac:spMkLst>
        </pc:spChg>
        <pc:picChg chg="add mod">
          <ac:chgData name="Renuka Madugundu" userId="39bfb2bc63dad4a8" providerId="LiveId" clId="{69627D36-1CA9-49DE-88AF-41BCB828FDA0}" dt="2026-02-20T14:21:31.196" v="281" actId="14100"/>
          <ac:picMkLst>
            <pc:docMk/>
            <pc:sldMk cId="3352211810" sldId="259"/>
            <ac:picMk id="1026" creationId="{500600D0-7A47-56A6-DC3D-D369BC4ABFEB}"/>
          </ac:picMkLst>
        </pc:picChg>
        <pc:picChg chg="add del mod">
          <ac:chgData name="Renuka Madugundu" userId="39bfb2bc63dad4a8" providerId="LiveId" clId="{69627D36-1CA9-49DE-88AF-41BCB828FDA0}" dt="2026-02-20T14:23:02.073" v="293" actId="21"/>
          <ac:picMkLst>
            <pc:docMk/>
            <pc:sldMk cId="3352211810" sldId="259"/>
            <ac:picMk id="1028" creationId="{5BA12CFF-45BE-64CE-1122-45E7201F4DE7}"/>
          </ac:picMkLst>
        </pc:picChg>
        <pc:picChg chg="add mod">
          <ac:chgData name="Renuka Madugundu" userId="39bfb2bc63dad4a8" providerId="LiveId" clId="{69627D36-1CA9-49DE-88AF-41BCB828FDA0}" dt="2026-02-20T14:24:27.624" v="304" actId="14100"/>
          <ac:picMkLst>
            <pc:docMk/>
            <pc:sldMk cId="3352211810" sldId="259"/>
            <ac:picMk id="1030" creationId="{2CD2F8EE-77B2-5B2B-E00E-C5D006B85E6D}"/>
          </ac:picMkLst>
        </pc:picChg>
        <pc:picChg chg="add mod">
          <ac:chgData name="Renuka Madugundu" userId="39bfb2bc63dad4a8" providerId="LiveId" clId="{69627D36-1CA9-49DE-88AF-41BCB828FDA0}" dt="2026-02-20T14:25:21.503" v="312" actId="14100"/>
          <ac:picMkLst>
            <pc:docMk/>
            <pc:sldMk cId="3352211810" sldId="259"/>
            <ac:picMk id="1032" creationId="{5D1F319D-FD9E-48D6-C505-89459ED08245}"/>
          </ac:picMkLst>
        </pc:picChg>
      </pc:sldChg>
      <pc:sldChg chg="modSp new mod">
        <pc:chgData name="Renuka Madugundu" userId="39bfb2bc63dad4a8" providerId="LiveId" clId="{69627D36-1CA9-49DE-88AF-41BCB828FDA0}" dt="2026-02-20T14:29:13.688" v="383" actId="207"/>
        <pc:sldMkLst>
          <pc:docMk/>
          <pc:sldMk cId="952097848" sldId="260"/>
        </pc:sldMkLst>
        <pc:spChg chg="mod">
          <ac:chgData name="Renuka Madugundu" userId="39bfb2bc63dad4a8" providerId="LiveId" clId="{69627D36-1CA9-49DE-88AF-41BCB828FDA0}" dt="2026-02-20T14:27:53.330" v="359" actId="255"/>
          <ac:spMkLst>
            <pc:docMk/>
            <pc:sldMk cId="952097848" sldId="260"/>
            <ac:spMk id="2" creationId="{FD515153-24E1-6C98-E1CD-3C42A42A476A}"/>
          </ac:spMkLst>
        </pc:spChg>
        <pc:spChg chg="mod">
          <ac:chgData name="Renuka Madugundu" userId="39bfb2bc63dad4a8" providerId="LiveId" clId="{69627D36-1CA9-49DE-88AF-41BCB828FDA0}" dt="2026-02-20T14:29:13.688" v="383" actId="207"/>
          <ac:spMkLst>
            <pc:docMk/>
            <pc:sldMk cId="952097848" sldId="260"/>
            <ac:spMk id="3" creationId="{56CC37C3-F068-869D-B716-DC8D5DBB44C0}"/>
          </ac:spMkLst>
        </pc:spChg>
      </pc:sldChg>
      <pc:sldChg chg="modSp new mod">
        <pc:chgData name="Renuka Madugundu" userId="39bfb2bc63dad4a8" providerId="LiveId" clId="{69627D36-1CA9-49DE-88AF-41BCB828FDA0}" dt="2026-02-20T14:32:23.903" v="424" actId="14100"/>
        <pc:sldMkLst>
          <pc:docMk/>
          <pc:sldMk cId="2215171399" sldId="261"/>
        </pc:sldMkLst>
        <pc:spChg chg="mod">
          <ac:chgData name="Renuka Madugundu" userId="39bfb2bc63dad4a8" providerId="LiveId" clId="{69627D36-1CA9-49DE-88AF-41BCB828FDA0}" dt="2026-02-20T14:32:17.455" v="423" actId="255"/>
          <ac:spMkLst>
            <pc:docMk/>
            <pc:sldMk cId="2215171399" sldId="261"/>
            <ac:spMk id="2" creationId="{10B98615-04A0-17A7-CDF5-27193CEDA09E}"/>
          </ac:spMkLst>
        </pc:spChg>
        <pc:spChg chg="mod">
          <ac:chgData name="Renuka Madugundu" userId="39bfb2bc63dad4a8" providerId="LiveId" clId="{69627D36-1CA9-49DE-88AF-41BCB828FDA0}" dt="2026-02-20T14:32:23.903" v="424" actId="14100"/>
          <ac:spMkLst>
            <pc:docMk/>
            <pc:sldMk cId="2215171399" sldId="261"/>
            <ac:spMk id="3" creationId="{07DD97C1-C1BD-FF2A-98FB-60DE5C4EB4C5}"/>
          </ac:spMkLst>
        </pc:spChg>
      </pc:sldChg>
      <pc:sldChg chg="delSp modSp new mod">
        <pc:chgData name="Renuka Madugundu" userId="39bfb2bc63dad4a8" providerId="LiveId" clId="{69627D36-1CA9-49DE-88AF-41BCB828FDA0}" dt="2026-02-20T14:34:22.931" v="437" actId="255"/>
        <pc:sldMkLst>
          <pc:docMk/>
          <pc:sldMk cId="376999150" sldId="262"/>
        </pc:sldMkLst>
        <pc:spChg chg="del mod">
          <ac:chgData name="Renuka Madugundu" userId="39bfb2bc63dad4a8" providerId="LiveId" clId="{69627D36-1CA9-49DE-88AF-41BCB828FDA0}" dt="2026-02-20T14:33:05.042" v="430" actId="21"/>
          <ac:spMkLst>
            <pc:docMk/>
            <pc:sldMk cId="376999150" sldId="262"/>
            <ac:spMk id="2" creationId="{EE97CF08-D5C6-4276-14FA-E5FBC8DD7B97}"/>
          </ac:spMkLst>
        </pc:spChg>
        <pc:spChg chg="mod">
          <ac:chgData name="Renuka Madugundu" userId="39bfb2bc63dad4a8" providerId="LiveId" clId="{69627D36-1CA9-49DE-88AF-41BCB828FDA0}" dt="2026-02-20T14:34:22.931" v="437" actId="255"/>
          <ac:spMkLst>
            <pc:docMk/>
            <pc:sldMk cId="376999150" sldId="262"/>
            <ac:spMk id="3" creationId="{D775737D-9C7E-9295-E034-587F4CE3E49E}"/>
          </ac:spMkLst>
        </pc:spChg>
      </pc:sldChg>
      <pc:sldChg chg="delSp modSp new mod">
        <pc:chgData name="Renuka Madugundu" userId="39bfb2bc63dad4a8" providerId="LiveId" clId="{69627D36-1CA9-49DE-88AF-41BCB828FDA0}" dt="2026-02-20T14:36:39.945" v="472" actId="207"/>
        <pc:sldMkLst>
          <pc:docMk/>
          <pc:sldMk cId="565864367" sldId="263"/>
        </pc:sldMkLst>
        <pc:spChg chg="del">
          <ac:chgData name="Renuka Madugundu" userId="39bfb2bc63dad4a8" providerId="LiveId" clId="{69627D36-1CA9-49DE-88AF-41BCB828FDA0}" dt="2026-02-20T14:34:37.811" v="439" actId="21"/>
          <ac:spMkLst>
            <pc:docMk/>
            <pc:sldMk cId="565864367" sldId="263"/>
            <ac:spMk id="2" creationId="{CF51B476-E686-25DD-105D-2295251108BF}"/>
          </ac:spMkLst>
        </pc:spChg>
        <pc:spChg chg="mod">
          <ac:chgData name="Renuka Madugundu" userId="39bfb2bc63dad4a8" providerId="LiveId" clId="{69627D36-1CA9-49DE-88AF-41BCB828FDA0}" dt="2026-02-20T14:36:39.945" v="472" actId="207"/>
          <ac:spMkLst>
            <pc:docMk/>
            <pc:sldMk cId="565864367" sldId="263"/>
            <ac:spMk id="3" creationId="{0D76C8FA-8CBE-5B93-78A2-EDD33E20D51A}"/>
          </ac:spMkLst>
        </pc:spChg>
      </pc:sldChg>
      <pc:sldChg chg="new del">
        <pc:chgData name="Renuka Madugundu" userId="39bfb2bc63dad4a8" providerId="LiveId" clId="{69627D36-1CA9-49DE-88AF-41BCB828FDA0}" dt="2026-02-20T16:59:09.507" v="474" actId="2696"/>
        <pc:sldMkLst>
          <pc:docMk/>
          <pc:sldMk cId="276843813" sldId="264"/>
        </pc:sldMkLst>
      </pc:sldChg>
      <pc:sldChg chg="delSp modSp new mod">
        <pc:chgData name="Renuka Madugundu" userId="39bfb2bc63dad4a8" providerId="LiveId" clId="{69627D36-1CA9-49DE-88AF-41BCB828FDA0}" dt="2026-02-20T17:11:12.146" v="665" actId="207"/>
        <pc:sldMkLst>
          <pc:docMk/>
          <pc:sldMk cId="1842900166" sldId="264"/>
        </pc:sldMkLst>
        <pc:spChg chg="del mod">
          <ac:chgData name="Renuka Madugundu" userId="39bfb2bc63dad4a8" providerId="LiveId" clId="{69627D36-1CA9-49DE-88AF-41BCB828FDA0}" dt="2026-02-20T17:01:06.102" v="481" actId="21"/>
          <ac:spMkLst>
            <pc:docMk/>
            <pc:sldMk cId="1842900166" sldId="264"/>
            <ac:spMk id="2" creationId="{10CCC9A5-19B2-69EB-223B-0ADCC5DF6EC6}"/>
          </ac:spMkLst>
        </pc:spChg>
        <pc:spChg chg="mod">
          <ac:chgData name="Renuka Madugundu" userId="39bfb2bc63dad4a8" providerId="LiveId" clId="{69627D36-1CA9-49DE-88AF-41BCB828FDA0}" dt="2026-02-20T17:11:12.146" v="665" actId="207"/>
          <ac:spMkLst>
            <pc:docMk/>
            <pc:sldMk cId="1842900166" sldId="264"/>
            <ac:spMk id="3" creationId="{F9E19E13-5D61-DB7F-59C8-7777C83198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2A1A-03C8-3AB7-9614-8D0720BFF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DA954-B324-273E-B32A-861C4E593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5BF1C-9221-3ADF-C3B0-B0306A4C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58A9F-053C-7FFA-50E7-C0E726B3D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84685-2E51-3682-9220-9829499D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03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BCD1-E60F-331B-DD4C-302E1BFA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49080-78AE-E923-9D6E-5EF1E4F8D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AF2A5-114C-66ED-BFF9-595F6123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4ABFE-E636-C79C-7107-174A02E23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E386-2FFB-3014-963F-A9C77B37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37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74A0-5B5B-F500-82B9-5E065E22E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E57C1-653C-04CD-EDDE-EA0D228C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7041-7875-C5EE-5F84-2A96F1ED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6D988-FF71-1762-2DE2-6D840FC4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DF29C-114A-298B-8ADB-A23FAA01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69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36FD-0313-A2BE-E4DF-70102075B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1EB5-A5A3-8921-CA3C-153112628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68FC6-4FD9-2BAF-3716-D0F3BC121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7473E-EA8E-690D-E5BA-E97AA5377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F20D0-0826-90D0-F551-50F3153B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500C6-0F01-0318-8EFD-9CCD5A25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11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0D27-B998-176D-497D-C8B8C212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24DFF-DA5B-57CA-4867-A1823ED7C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F2075-B490-64D4-FC94-8AD833E88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679F9-15BC-A3AD-5E2D-FD81718D5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01743-F589-4027-88AA-D2F5F3785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5F70B-58AB-0C8F-82DB-868D6AA5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68B159-B4EE-D6C5-E65F-D3749C25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C3FAE-F1A2-E9DE-B1F4-660C7EAB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30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E83A-6E8F-5A42-3566-B0E54295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D611A-2781-1803-B195-187B259F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11C35-5221-E3FE-1F76-8B3687B0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05EDA-1089-00AE-2EB1-F6F89228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775D4-52F7-13F4-D791-79C07FF2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118B63-517A-0451-EA25-78D60C1D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129FB-3E84-BA2C-993C-70E9B74B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57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BA80-8F67-F926-D63A-DE34EB96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8095E-3E66-AFCE-D101-79B49374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01367-0AD0-929E-F646-56BD827AD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78D17-380C-93A4-5842-07F948FB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C2C6B-E8CB-9787-5445-871D694D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22197-3470-A8CC-85ED-42B114311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2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3518B-7A64-FAB4-FB35-F15FE680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39BF6-8E64-9674-267C-C0CA26E7C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81B99-805E-7F9A-4D13-BAB0F203B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C5CF3-B108-2DBA-6EDB-4F89283E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B461C-E3B7-5544-139B-5D918BB6B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32E2-37FD-6100-2934-540E09BC6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64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E5F5-22FD-3AB9-F65C-4D27DE66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233DE-6F3A-52B3-EA1E-20D63157F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8C49C-6DCB-6719-EC97-4E6ABA32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467A1-5B60-F957-525D-3F783FAF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5E1ED-F76C-451B-3F78-4AC0A882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7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628AE-0FFF-77E8-6D3A-A6AAB6537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AF4E5-64EC-A034-5362-8764F7AFE6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6BE9-407A-EBD4-10B0-7BEB38277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4715C-B20C-C596-0A14-FFFCEA01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E6E4E-27CE-D516-FE16-1C81B7AAD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17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B3C3A-CCE6-38BF-B84D-425FDAAB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5BD90-3172-AEFF-D570-2C864CFB3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BA8E-C0BE-5084-938F-0441CE2F8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13AEB0-B5C9-453B-B2F8-0C61A7A06E2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38369-2345-6063-1EC2-88E3E0815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AE469-75C5-2B8D-08ED-0A543D23D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A686B-3D61-4477-BCBE-587F219622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33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E19E13-5D61-DB7F-59C8-7777C8319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88235"/>
            <a:ext cx="10214113" cy="6261652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accent3"/>
                </a:solidFill>
              </a:rPr>
              <a:t>COLLEGE  NAME:  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Ashoka</a:t>
            </a:r>
            <a:r>
              <a:rPr lang="en-US" dirty="0"/>
              <a:t> </a:t>
            </a:r>
            <a:r>
              <a:rPr lang="en-US" sz="3200" dirty="0"/>
              <a:t>Women’s Engineering  College</a:t>
            </a:r>
          </a:p>
          <a:p>
            <a:pPr algn="l"/>
            <a:r>
              <a:rPr lang="en-US" sz="3200" b="1" dirty="0">
                <a:solidFill>
                  <a:schemeClr val="accent3"/>
                </a:solidFill>
              </a:rPr>
              <a:t>DEPARTMENT: </a:t>
            </a:r>
            <a:r>
              <a:rPr lang="en-US" sz="3200" dirty="0"/>
              <a:t>Computer Science and Engineering</a:t>
            </a:r>
          </a:p>
          <a:p>
            <a:pPr algn="l"/>
            <a:r>
              <a:rPr lang="en-US" sz="3200" b="1" dirty="0">
                <a:solidFill>
                  <a:schemeClr val="accent3"/>
                </a:solidFill>
              </a:rPr>
              <a:t>FINAL PROJECT REPORT</a:t>
            </a:r>
            <a:endParaRPr lang="en-IN" sz="3200" b="1" dirty="0">
              <a:solidFill>
                <a:schemeClr val="accent3"/>
              </a:solidFill>
            </a:endParaRPr>
          </a:p>
          <a:p>
            <a:pPr algn="l"/>
            <a:r>
              <a:rPr lang="en-US" sz="2800" b="1" dirty="0">
                <a:solidFill>
                  <a:schemeClr val="accent5"/>
                </a:solidFill>
              </a:rPr>
              <a:t>Title: </a:t>
            </a:r>
            <a:r>
              <a:rPr lang="en-US" dirty="0">
                <a:solidFill>
                  <a:schemeClr val="accent4"/>
                </a:solidFill>
              </a:rPr>
              <a:t>Exploratory Analysis of Rainfall Data in India for Agriculture</a:t>
            </a:r>
          </a:p>
          <a:p>
            <a:pPr algn="l"/>
            <a:endParaRPr lang="en-US" dirty="0">
              <a:solidFill>
                <a:schemeClr val="accent4"/>
              </a:solidFill>
            </a:endParaRPr>
          </a:p>
          <a:p>
            <a:pPr algn="l"/>
            <a:r>
              <a:rPr lang="en-US" sz="2800" b="1" dirty="0">
                <a:solidFill>
                  <a:schemeClr val="accent3"/>
                </a:solidFill>
              </a:rPr>
              <a:t>Submitted by:</a:t>
            </a:r>
            <a:endParaRPr lang="en-IN" sz="2800" b="1" dirty="0">
              <a:solidFill>
                <a:schemeClr val="accent3"/>
              </a:solidFill>
            </a:endParaRPr>
          </a:p>
          <a:p>
            <a:pPr algn="l"/>
            <a:r>
              <a:rPr lang="en-US" dirty="0"/>
              <a:t>Renuka Madugundu</a:t>
            </a:r>
          </a:p>
          <a:p>
            <a:pPr algn="l"/>
            <a:endParaRPr lang="en-US" dirty="0"/>
          </a:p>
          <a:p>
            <a:pPr algn="l"/>
            <a:r>
              <a:rPr lang="en-US" b="1" dirty="0">
                <a:solidFill>
                  <a:schemeClr val="accent3"/>
                </a:solidFill>
              </a:rPr>
              <a:t>Under the Guidance of:</a:t>
            </a:r>
            <a:endParaRPr lang="en-IN" b="1" dirty="0">
              <a:solidFill>
                <a:schemeClr val="accent3"/>
              </a:solidFill>
            </a:endParaRPr>
          </a:p>
          <a:p>
            <a:pPr algn="l"/>
            <a:r>
              <a:rPr lang="en-US" dirty="0"/>
              <a:t>Mrs. </a:t>
            </a:r>
            <a:r>
              <a:rPr lang="en-US" dirty="0" err="1"/>
              <a:t>HariPriya</a:t>
            </a:r>
            <a:r>
              <a:rPr lang="en-US" dirty="0"/>
              <a:t>.</a:t>
            </a:r>
          </a:p>
          <a:p>
            <a:pPr algn="l"/>
            <a:endParaRPr lang="en-US" dirty="0"/>
          </a:p>
          <a:p>
            <a:pPr algn="l"/>
            <a:r>
              <a:rPr lang="en-US" b="1" dirty="0">
                <a:solidFill>
                  <a:schemeClr val="accent3"/>
                </a:solidFill>
              </a:rPr>
              <a:t>Academic Year: </a:t>
            </a:r>
            <a:r>
              <a:rPr lang="en-US" dirty="0"/>
              <a:t>2025–2026</a:t>
            </a:r>
            <a:endParaRPr lang="en-IN" dirty="0"/>
          </a:p>
          <a:p>
            <a:pPr algn="l"/>
            <a:endParaRPr lang="en-US" dirty="0"/>
          </a:p>
          <a:p>
            <a:pPr algn="l"/>
            <a:endParaRPr lang="en-IN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42900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14F5-02CF-C0D7-363B-38EA71DDE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7139"/>
            <a:ext cx="9144000" cy="1292087"/>
          </a:xfrm>
        </p:spPr>
        <p:txBody>
          <a:bodyPr>
            <a:normAutofit fontScale="90000"/>
          </a:bodyPr>
          <a:lstStyle/>
          <a:p>
            <a:r>
              <a:rPr lang="en-US" dirty="0"/>
              <a:t>🌧️ </a:t>
            </a:r>
            <a:r>
              <a:rPr lang="en-US" sz="3100" b="1" dirty="0">
                <a:solidFill>
                  <a:schemeClr val="accent6">
                    <a:lumMod val="75000"/>
                  </a:schemeClr>
                </a:solidFill>
              </a:rPr>
              <a:t>Exploratory Analysis of Rainfall Data in India for Agriculture</a:t>
            </a:r>
            <a:endParaRPr lang="en-IN" sz="31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B31F8-E00A-38DA-FD0D-961186806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7277"/>
            <a:ext cx="9144000" cy="440303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🇮🇳 Rainfall &amp; Agriculture in India</a:t>
            </a:r>
          </a:p>
          <a:p>
            <a:pPr algn="l"/>
            <a:r>
              <a:rPr lang="en-US" dirty="0"/>
              <a:t>India’s agriculture heavily depends on the </a:t>
            </a:r>
            <a:r>
              <a:rPr lang="en-US" b="1" dirty="0"/>
              <a:t>monsoon system</a:t>
            </a:r>
            <a:r>
              <a:rPr lang="en-US" dirty="0"/>
              <a:t>, especially the </a:t>
            </a:r>
            <a:r>
              <a:rPr lang="en-US" b="1" dirty="0"/>
              <a:t>Southwest Monsoon (June–September)</a:t>
            </a:r>
            <a:r>
              <a:rPr lang="en-US" dirty="0"/>
              <a:t>. Around 50–60% of the country’s net sown area is rain-fed. Therefore, analyzing rainfall data is critical for improving crop productivity and reducing agricultural risks.</a:t>
            </a:r>
          </a:p>
          <a:p>
            <a:pPr algn="l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🎯 Project Objective</a:t>
            </a:r>
          </a:p>
          <a:p>
            <a:r>
              <a:rPr lang="en-US" dirty="0"/>
              <a:t>To perform </a:t>
            </a:r>
            <a:r>
              <a:rPr lang="en-US" b="1" dirty="0"/>
              <a:t>Exploratory Data Analysis (EDA)</a:t>
            </a:r>
            <a:r>
              <a:rPr lang="en-US" dirty="0"/>
              <a:t> on historical rainfall data in India to:</a:t>
            </a:r>
          </a:p>
          <a:p>
            <a:pPr algn="l"/>
            <a:r>
              <a:rPr lang="en-US" dirty="0"/>
              <a:t>Identify rainfall trends and seasonal patterns</a:t>
            </a:r>
          </a:p>
          <a:p>
            <a:pPr algn="l"/>
            <a:r>
              <a:rPr lang="en-US" dirty="0"/>
              <a:t>Detect drought and flood-prone regions</a:t>
            </a:r>
          </a:p>
          <a:p>
            <a:pPr algn="l"/>
            <a:r>
              <a:rPr lang="en-US" dirty="0"/>
              <a:t>Understand rainfall variability across states</a:t>
            </a:r>
          </a:p>
          <a:p>
            <a:pPr algn="l"/>
            <a:r>
              <a:rPr lang="en-US" dirty="0"/>
              <a:t>Support agriculture-related decision-making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30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B947-467A-3A76-5A7B-C43D7261F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6713"/>
            <a:ext cx="9144000" cy="2395331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accent2">
                    <a:lumMod val="75000"/>
                  </a:schemeClr>
                </a:solidFill>
              </a:rPr>
              <a:t>📊 Key Components of Exploratory Analysis</a:t>
            </a:r>
            <a:br>
              <a:rPr lang="en-IN" sz="2700" b="1" dirty="0"/>
            </a:br>
            <a:r>
              <a:rPr lang="en-IN" sz="2200" b="1" dirty="0"/>
              <a:t>1️⃣ Data Collection</a:t>
            </a:r>
            <a:br>
              <a:rPr lang="en-IN" sz="1800" b="1" dirty="0"/>
            </a:br>
            <a:r>
              <a:rPr lang="en-IN" sz="2000" dirty="0"/>
              <a:t>Source: IMD (Indian Meteorological Department), Kaggle datasets, Government Open Data Portal</a:t>
            </a:r>
            <a:br>
              <a:rPr lang="en-IN" sz="2000" dirty="0"/>
            </a:br>
            <a:r>
              <a:rPr lang="en-IN" sz="2000" dirty="0"/>
              <a:t>Data Fields:</a:t>
            </a:r>
            <a:br>
              <a:rPr lang="en-IN" sz="2000" dirty="0"/>
            </a:br>
            <a:r>
              <a:rPr lang="en-IN" sz="2000" dirty="0"/>
              <a:t>   Year</a:t>
            </a:r>
            <a:br>
              <a:rPr lang="en-IN" sz="2000" dirty="0"/>
            </a:br>
            <a:r>
              <a:rPr lang="en-IN" sz="2000" dirty="0"/>
              <a:t>  State/Region</a:t>
            </a:r>
            <a:br>
              <a:rPr lang="en-IN" sz="2000" dirty="0"/>
            </a:br>
            <a:r>
              <a:rPr lang="en-IN" sz="2000" dirty="0"/>
              <a:t>  Monthly Rainfall (Jan–Dec)</a:t>
            </a:r>
            <a:br>
              <a:rPr lang="en-IN" sz="2000" dirty="0"/>
            </a:br>
            <a:r>
              <a:rPr lang="en-IN" sz="2000" dirty="0"/>
              <a:t>  Annual Rainfall</a:t>
            </a:r>
            <a:br>
              <a:rPr lang="en-IN" sz="2000" dirty="0"/>
            </a:br>
            <a:r>
              <a:rPr lang="en-IN" sz="2000" dirty="0"/>
              <a:t>  Seasonal Rainfall</a:t>
            </a:r>
            <a:br>
              <a:rPr lang="en-IN" sz="1800" dirty="0"/>
            </a:br>
            <a:br>
              <a:rPr lang="en-IN" sz="1800" dirty="0"/>
            </a:br>
            <a:endParaRPr lang="en-IN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D6B19-15F7-89E3-6ACD-994ECCFC0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3016"/>
            <a:ext cx="9144000" cy="385638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2️⃣ Data Preprocessing</a:t>
            </a:r>
          </a:p>
          <a:p>
            <a:pPr algn="l"/>
            <a:r>
              <a:rPr lang="en-US" sz="2200" dirty="0"/>
              <a:t>    Handling missing values</a:t>
            </a:r>
          </a:p>
          <a:p>
            <a:pPr algn="l"/>
            <a:r>
              <a:rPr lang="en-US" sz="2200" dirty="0"/>
              <a:t>    Removing duplicates</a:t>
            </a:r>
          </a:p>
          <a:p>
            <a:pPr algn="l"/>
            <a:r>
              <a:rPr lang="en-US" sz="2200" dirty="0"/>
              <a:t>    Converting rainfall values to numeric format</a:t>
            </a:r>
          </a:p>
          <a:p>
            <a:pPr algn="l"/>
            <a:r>
              <a:rPr lang="en-US" sz="2200" dirty="0"/>
              <a:t>    Aggregating yearly &amp; seasonal data</a:t>
            </a:r>
          </a:p>
          <a:p>
            <a:pPr algn="l"/>
            <a:r>
              <a:rPr lang="en-US" b="1" dirty="0"/>
              <a:t>3️⃣ Data Visualization Techniques</a:t>
            </a:r>
          </a:p>
          <a:p>
            <a:pPr algn="l"/>
            <a:r>
              <a:rPr lang="en-US" dirty="0"/>
              <a:t>    Line plots (Rainfall trend over years)</a:t>
            </a:r>
          </a:p>
          <a:p>
            <a:pPr algn="l"/>
            <a:r>
              <a:rPr lang="en-US" dirty="0"/>
              <a:t>    Heatmaps (Region-wise rainfall intensity)</a:t>
            </a:r>
          </a:p>
          <a:p>
            <a:pPr algn="l"/>
            <a:r>
              <a:rPr lang="en-US" dirty="0"/>
              <a:t>    Boxplots (Variability &amp; outliers)</a:t>
            </a:r>
          </a:p>
          <a:p>
            <a:pPr algn="l"/>
            <a:r>
              <a:rPr lang="en-US" dirty="0"/>
              <a:t>    Bar charts (Seasonal comparison)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18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EEEB-E620-B271-F152-264A42036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330"/>
            <a:ext cx="9144000" cy="2826785"/>
          </a:xfrm>
        </p:spPr>
        <p:txBody>
          <a:bodyPr>
            <a:normAutofit fontScale="90000"/>
          </a:bodyPr>
          <a:lstStyle/>
          <a:p>
            <a:pPr algn="l"/>
            <a:r>
              <a:rPr lang="en-IN" sz="2200" b="1" dirty="0"/>
              <a:t>4️⃣ Statistical Analysis</a:t>
            </a:r>
            <a:br>
              <a:rPr lang="en-IN" sz="1100" b="1" dirty="0"/>
            </a:br>
            <a:r>
              <a:rPr lang="en-IN" sz="1100" b="1" dirty="0"/>
              <a:t>         </a:t>
            </a:r>
            <a:r>
              <a:rPr lang="en-IN" sz="1800" dirty="0"/>
              <a:t>Mean, Median, Standard Deviation</a:t>
            </a:r>
            <a:br>
              <a:rPr lang="en-IN" sz="1800" dirty="0"/>
            </a:br>
            <a:r>
              <a:rPr lang="en-IN" sz="1800" dirty="0"/>
              <a:t>     Coefficient of Variation (Rainfall stability)</a:t>
            </a:r>
            <a:br>
              <a:rPr lang="en-IN" sz="1800" dirty="0"/>
            </a:br>
            <a:r>
              <a:rPr lang="en-IN" sz="1800" dirty="0"/>
              <a:t>     Correlation between seasonal rainfall &amp; crop yield</a:t>
            </a:r>
            <a:br>
              <a:rPr lang="en-IN" sz="1800" dirty="0"/>
            </a:br>
            <a:r>
              <a:rPr lang="en-IN" sz="1800" dirty="0"/>
              <a:t>     Trend analysis using moving averages</a:t>
            </a:r>
            <a:br>
              <a:rPr lang="en-IN" sz="1800" dirty="0"/>
            </a:br>
            <a:br>
              <a:rPr lang="en-IN" sz="1100" dirty="0"/>
            </a:br>
            <a:br>
              <a:rPr lang="en-IN" sz="1100" dirty="0"/>
            </a:br>
            <a:r>
              <a:rPr lang="en-IN" sz="2200" b="1" dirty="0"/>
              <a:t>5️⃣ Machine Learning (Optional Advanced Step)</a:t>
            </a:r>
            <a:br>
              <a:rPr lang="en-IN" sz="2200" b="1" dirty="0"/>
            </a:br>
            <a:r>
              <a:rPr lang="en-IN" sz="2200" b="1" dirty="0"/>
              <a:t>     </a:t>
            </a:r>
            <a:r>
              <a:rPr lang="en-IN" sz="2000" dirty="0"/>
              <a:t>Linear Regression → Rainfall trend prediction</a:t>
            </a:r>
            <a:br>
              <a:rPr lang="en-IN" sz="2000" dirty="0"/>
            </a:br>
            <a:r>
              <a:rPr lang="en-IN" sz="2000" dirty="0"/>
              <a:t>     Time Series Forecasting (ARIMA)</a:t>
            </a:r>
            <a:br>
              <a:rPr lang="en-IN" sz="2000" dirty="0"/>
            </a:br>
            <a:r>
              <a:rPr lang="en-IN" sz="2000" dirty="0"/>
              <a:t>     Clustering (K-means) → Grouping states based on rainfall similarity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596D7-8600-30AD-C779-AF4291325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36115"/>
            <a:ext cx="9144000" cy="381255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IN" sz="3800" b="1" dirty="0">
                <a:solidFill>
                  <a:schemeClr val="accent5">
                    <a:lumMod val="75000"/>
                  </a:schemeClr>
                </a:solidFill>
              </a:rPr>
              <a:t>🌾 Real-World Applications (Scenarios Explained)</a:t>
            </a:r>
          </a:p>
          <a:p>
            <a:endParaRPr lang="en-IN" dirty="0"/>
          </a:p>
          <a:p>
            <a:pPr algn="l"/>
            <a:r>
              <a:rPr lang="en-IN" sz="3200" b="1" dirty="0"/>
              <a:t>🌱 Scenario 1: Crop Planning</a:t>
            </a:r>
          </a:p>
          <a:p>
            <a:pPr algn="l"/>
            <a:r>
              <a:rPr lang="en-IN" sz="2900" dirty="0"/>
              <a:t>Using rainfall trends:</a:t>
            </a:r>
          </a:p>
          <a:p>
            <a:pPr algn="l"/>
            <a:r>
              <a:rPr lang="en-IN" sz="2900" dirty="0"/>
              <a:t>Identify high rainfall zones → Suitable for rice, sugarcane</a:t>
            </a:r>
          </a:p>
          <a:p>
            <a:pPr algn="l"/>
            <a:r>
              <a:rPr lang="en-IN" sz="2900" dirty="0"/>
              <a:t>Moderate rainfall zones → Suitable for maize, cotton</a:t>
            </a:r>
          </a:p>
          <a:p>
            <a:pPr algn="l"/>
            <a:r>
              <a:rPr lang="en-IN" sz="2900" dirty="0"/>
              <a:t>Low rainfall zones → Millets, pulses</a:t>
            </a:r>
          </a:p>
          <a:p>
            <a:pPr algn="l"/>
            <a:r>
              <a:rPr lang="en-IN" sz="3200" b="1" dirty="0"/>
              <a:t>📌 Farmers can:</a:t>
            </a:r>
          </a:p>
          <a:p>
            <a:pPr algn="l"/>
            <a:r>
              <a:rPr lang="en-IN" sz="2600" dirty="0"/>
              <a:t>Adjust sowing dates</a:t>
            </a:r>
          </a:p>
          <a:p>
            <a:pPr algn="l"/>
            <a:r>
              <a:rPr lang="en-IN" sz="2600" dirty="0"/>
              <a:t>Choose drought-resistant varieties</a:t>
            </a:r>
          </a:p>
          <a:p>
            <a:pPr algn="l"/>
            <a:r>
              <a:rPr lang="en-IN" sz="2600" dirty="0"/>
              <a:t>Plan crop rotation based on rainfall history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20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B0CE5-5CE1-15C4-B2F6-17A7E27F2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096" y="576470"/>
            <a:ext cx="5552661" cy="2494721"/>
          </a:xfrm>
        </p:spPr>
        <p:txBody>
          <a:bodyPr>
            <a:noAutofit/>
          </a:bodyPr>
          <a:lstStyle/>
          <a:p>
            <a:pPr algn="l"/>
            <a:r>
              <a:rPr lang="en-IN" sz="2000" b="1" dirty="0"/>
              <a:t>💧 Scenario 2: Irrigation Management</a:t>
            </a:r>
            <a:br>
              <a:rPr lang="en-IN" sz="1400" b="1" dirty="0"/>
            </a:br>
            <a:r>
              <a:rPr lang="en-IN" sz="1400" b="1" dirty="0"/>
              <a:t>       </a:t>
            </a:r>
            <a:r>
              <a:rPr lang="en-IN" sz="1800" dirty="0"/>
              <a:t>By </a:t>
            </a:r>
            <a:r>
              <a:rPr lang="en-IN" sz="1800" dirty="0" err="1"/>
              <a:t>analyzing</a:t>
            </a:r>
            <a:r>
              <a:rPr lang="en-IN" sz="1800" dirty="0"/>
              <a:t> rainfall variability:</a:t>
            </a:r>
            <a:br>
              <a:rPr lang="en-IN" sz="1800" dirty="0"/>
            </a:br>
            <a:r>
              <a:rPr lang="en-IN" sz="1800" dirty="0"/>
              <a:t>        Plan irrigation schedules efficiently</a:t>
            </a:r>
            <a:br>
              <a:rPr lang="en-IN" sz="1800" dirty="0"/>
            </a:br>
            <a:r>
              <a:rPr lang="en-IN" sz="1800" dirty="0"/>
              <a:t>        Avoid over-irrigation</a:t>
            </a:r>
            <a:br>
              <a:rPr lang="en-IN" sz="1800" dirty="0"/>
            </a:br>
            <a:r>
              <a:rPr lang="en-IN" sz="1800" dirty="0"/>
              <a:t>        Implement drip irrigation in low rainfall regions</a:t>
            </a:r>
            <a:br>
              <a:rPr lang="en-IN" sz="1800" dirty="0"/>
            </a:br>
            <a:r>
              <a:rPr lang="en-IN" sz="1800" dirty="0"/>
              <a:t>        Build rainwater harvesting structures</a:t>
            </a:r>
            <a:br>
              <a:rPr lang="en-IN" sz="1800" dirty="0"/>
            </a:br>
            <a:r>
              <a:rPr lang="en-IN" sz="2000" b="1" dirty="0"/>
              <a:t>📌 Result:</a:t>
            </a:r>
            <a:br>
              <a:rPr lang="en-IN" sz="2000" b="1" dirty="0"/>
            </a:br>
            <a:r>
              <a:rPr lang="en-IN" sz="2000" b="1" dirty="0"/>
              <a:t>    </a:t>
            </a:r>
            <a:r>
              <a:rPr lang="en-IN" sz="1800" dirty="0"/>
              <a:t>Water conservation</a:t>
            </a:r>
            <a:br>
              <a:rPr lang="en-IN" sz="1800" dirty="0"/>
            </a:br>
            <a:r>
              <a:rPr lang="en-IN" sz="1800" dirty="0"/>
              <a:t>    Reduced crop loss</a:t>
            </a:r>
            <a:br>
              <a:rPr lang="en-IN" sz="1800" dirty="0"/>
            </a:br>
            <a:r>
              <a:rPr lang="en-IN" sz="1800" dirty="0"/>
              <a:t>   Sustainable farming</a:t>
            </a:r>
            <a:br>
              <a:rPr lang="en-IN" sz="1800" dirty="0"/>
            </a:br>
            <a:endParaRPr lang="en-IN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00600D0-7A47-56A6-DC3D-D369BC4AB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579" y="3349485"/>
            <a:ext cx="2762250" cy="304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3D4694AC-F656-3876-A09C-25D7A0234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504" y="2941983"/>
            <a:ext cx="10260496" cy="3697356"/>
          </a:xfrm>
        </p:spPr>
        <p:txBody>
          <a:bodyPr/>
          <a:lstStyle/>
          <a:p>
            <a:pPr algn="l"/>
            <a:r>
              <a:rPr lang="en-IN" b="1" dirty="0"/>
              <a:t>⚠️ Scenario 3: Agricultural Risk Assessment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CD2F8EE-77B2-5B2B-E00E-C5D006B85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349485"/>
            <a:ext cx="3470413" cy="304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D1F319D-FD9E-48D6-C505-89459ED08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427" y="3349485"/>
            <a:ext cx="4234069" cy="304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211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15153-24E1-6C98-E1CD-3C42A42A4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517" y="21801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IN" sz="2000" dirty="0"/>
              <a:t>Rainfall analysis helps to:</a:t>
            </a:r>
            <a:br>
              <a:rPr lang="en-IN" sz="2000" dirty="0"/>
            </a:br>
            <a:r>
              <a:rPr lang="en-IN" sz="2000" dirty="0"/>
              <a:t>    Identify drought-prone districts</a:t>
            </a:r>
            <a:br>
              <a:rPr lang="en-IN" sz="2000" dirty="0"/>
            </a:br>
            <a:r>
              <a:rPr lang="en-IN" sz="2000" dirty="0"/>
              <a:t>    Detect flood-frequency regions</a:t>
            </a:r>
            <a:br>
              <a:rPr lang="en-IN" sz="2000" dirty="0"/>
            </a:br>
            <a:r>
              <a:rPr lang="en-IN" sz="2000" dirty="0"/>
              <a:t>    Design crop insurance schemes</a:t>
            </a:r>
            <a:br>
              <a:rPr lang="en-IN" sz="2000" dirty="0"/>
            </a:br>
            <a:r>
              <a:rPr lang="en-IN" sz="2000" dirty="0"/>
              <a:t>    Develop disaster preparedness strategies</a:t>
            </a:r>
            <a:br>
              <a:rPr lang="en-IN" sz="1600" dirty="0"/>
            </a:br>
            <a:r>
              <a:rPr lang="en-IN" sz="2000" b="1" dirty="0"/>
              <a:t>📌 Policymakers can:</a:t>
            </a:r>
            <a:br>
              <a:rPr lang="en-IN" sz="2000" b="1" dirty="0"/>
            </a:br>
            <a:r>
              <a:rPr lang="en-IN" sz="2000" b="1" dirty="0"/>
              <a:t>    </a:t>
            </a:r>
            <a:r>
              <a:rPr lang="en-IN" sz="2000" dirty="0"/>
              <a:t>Allocate subsidies efficiently</a:t>
            </a:r>
            <a:br>
              <a:rPr lang="en-IN" sz="2000" dirty="0"/>
            </a:br>
            <a:r>
              <a:rPr lang="en-IN" sz="2000" dirty="0"/>
              <a:t>    Plan relief funds</a:t>
            </a:r>
            <a:br>
              <a:rPr lang="en-IN" sz="2000" dirty="0"/>
            </a:br>
            <a:r>
              <a:rPr lang="en-IN" sz="2000" dirty="0"/>
              <a:t>    Improve climate resilience</a:t>
            </a:r>
            <a:br>
              <a:rPr lang="en-IN" sz="1600" dirty="0"/>
            </a:br>
            <a:endParaRPr lang="en-IN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C37C3-F068-869D-B716-DC8D5DBB4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3517" y="2476621"/>
            <a:ext cx="9144000" cy="4163368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sz="3300" b="1" dirty="0">
                <a:solidFill>
                  <a:schemeClr val="accent6"/>
                </a:solidFill>
              </a:rPr>
              <a:t>🏗️ Technical Architecture</a:t>
            </a:r>
          </a:p>
          <a:p>
            <a:pPr algn="l"/>
            <a:r>
              <a:rPr lang="en-IN" b="1" dirty="0"/>
              <a:t>1️⃣ Data Layer</a:t>
            </a:r>
          </a:p>
          <a:p>
            <a:pPr algn="l"/>
            <a:r>
              <a:rPr lang="en-IN" dirty="0"/>
              <a:t>     Historical rainfall dataset (CSV/Excel)</a:t>
            </a:r>
          </a:p>
          <a:p>
            <a:pPr algn="l"/>
            <a:r>
              <a:rPr lang="en-IN" dirty="0"/>
              <a:t>     Crop yield dataset (Optional)</a:t>
            </a:r>
          </a:p>
          <a:p>
            <a:pPr algn="l"/>
            <a:r>
              <a:rPr lang="en-IN" dirty="0"/>
              <a:t>     Stored in:</a:t>
            </a:r>
          </a:p>
          <a:p>
            <a:pPr lvl="1" algn="l"/>
            <a:r>
              <a:rPr lang="en-IN" dirty="0"/>
              <a:t>Local system / Cloud storage (AWS S3, Azure Blob)</a:t>
            </a:r>
          </a:p>
          <a:p>
            <a:pPr algn="l"/>
            <a:br>
              <a:rPr lang="en-IN" dirty="0"/>
            </a:br>
            <a:endParaRPr lang="en-IN" dirty="0"/>
          </a:p>
          <a:p>
            <a:pPr algn="l"/>
            <a:r>
              <a:rPr lang="en-IN" b="1" dirty="0"/>
              <a:t>2️⃣ Processing Layer</a:t>
            </a:r>
          </a:p>
          <a:p>
            <a:pPr algn="l"/>
            <a:r>
              <a:rPr lang="en-IN" dirty="0"/>
              <a:t>Python (Pandas, NumPy)</a:t>
            </a:r>
          </a:p>
          <a:p>
            <a:pPr algn="l"/>
            <a:r>
              <a:rPr lang="en-IN" dirty="0"/>
              <a:t>Data Cleaning &amp; Transformation</a:t>
            </a:r>
          </a:p>
          <a:p>
            <a:pPr algn="l"/>
            <a:r>
              <a:rPr lang="en-IN" dirty="0"/>
              <a:t>Statistical Analysis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09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98615-04A0-17A7-CDF5-27193CEDA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16040"/>
            <a:ext cx="9894277" cy="3783204"/>
          </a:xfrm>
        </p:spPr>
        <p:txBody>
          <a:bodyPr>
            <a:noAutofit/>
          </a:bodyPr>
          <a:lstStyle/>
          <a:p>
            <a:pPr algn="l"/>
            <a:r>
              <a:rPr lang="en-IN" sz="2400" b="1" dirty="0"/>
              <a:t>3️⃣ Analysis &amp; ML Layer</a:t>
            </a:r>
            <a:br>
              <a:rPr lang="en-IN" sz="2400" b="1" dirty="0"/>
            </a:br>
            <a:r>
              <a:rPr lang="en-IN" sz="2400" b="1" dirty="0"/>
              <a:t>   </a:t>
            </a:r>
            <a:r>
              <a:rPr lang="en-IN" sz="2400" dirty="0"/>
              <a:t>Scikit-learn</a:t>
            </a:r>
            <a:br>
              <a:rPr lang="en-IN" sz="2400" dirty="0"/>
            </a:br>
            <a:r>
              <a:rPr lang="en-IN" sz="2400" dirty="0"/>
              <a:t>   </a:t>
            </a:r>
            <a:r>
              <a:rPr lang="en-IN" sz="2400" dirty="0" err="1"/>
              <a:t>Statsmodels</a:t>
            </a:r>
            <a:r>
              <a:rPr lang="en-IN" sz="2400" dirty="0"/>
              <a:t> (Time Series)</a:t>
            </a:r>
            <a:br>
              <a:rPr lang="en-IN" sz="2400" dirty="0"/>
            </a:br>
            <a:r>
              <a:rPr lang="en-IN" sz="2400" dirty="0"/>
              <a:t>   Clustering &amp; Regression Models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r>
              <a:rPr lang="en-IN" sz="2400" b="1" dirty="0"/>
              <a:t>4️⃣ Visualization Layer</a:t>
            </a:r>
            <a:br>
              <a:rPr lang="en-IN" sz="2400" b="1" dirty="0"/>
            </a:br>
            <a:r>
              <a:rPr lang="en-IN" sz="2400" b="1" dirty="0"/>
              <a:t>    </a:t>
            </a:r>
            <a:r>
              <a:rPr lang="en-IN" sz="2400" dirty="0"/>
              <a:t>Matplotlib</a:t>
            </a:r>
            <a:br>
              <a:rPr lang="en-IN" sz="2400" dirty="0"/>
            </a:br>
            <a:r>
              <a:rPr lang="en-IN" sz="2400" dirty="0"/>
              <a:t>    Seaborn</a:t>
            </a:r>
            <a:br>
              <a:rPr lang="en-IN" sz="2400" dirty="0"/>
            </a:br>
            <a:r>
              <a:rPr lang="en-IN" sz="2400" dirty="0"/>
              <a:t>    </a:t>
            </a:r>
            <a:r>
              <a:rPr lang="en-IN" sz="2400" dirty="0" err="1"/>
              <a:t>Plotly</a:t>
            </a:r>
            <a:r>
              <a:rPr lang="en-IN" sz="2400" dirty="0"/>
              <a:t> (Interactive dashboards)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D97C1-C1BD-FF2A-98FB-60DE5C4EB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288" y="3999245"/>
            <a:ext cx="9984712" cy="2612570"/>
          </a:xfrm>
        </p:spPr>
        <p:txBody>
          <a:bodyPr/>
          <a:lstStyle/>
          <a:p>
            <a:pPr algn="l"/>
            <a:r>
              <a:rPr lang="en-IN" b="1" dirty="0"/>
              <a:t>5️⃣ Deployment Layer (Optional)</a:t>
            </a:r>
          </a:p>
          <a:p>
            <a:pPr algn="l"/>
            <a:r>
              <a:rPr lang="en-IN" dirty="0" err="1"/>
              <a:t>Streamlit</a:t>
            </a:r>
            <a:r>
              <a:rPr lang="en-IN" dirty="0"/>
              <a:t> / Flask Web App</a:t>
            </a:r>
          </a:p>
          <a:p>
            <a:pPr algn="l"/>
            <a:r>
              <a:rPr lang="en-IN" dirty="0"/>
              <a:t>Power BI / Tableau Dashboard</a:t>
            </a:r>
          </a:p>
          <a:p>
            <a:pPr algn="l"/>
            <a:r>
              <a:rPr lang="en-IN" dirty="0"/>
              <a:t>Cloud Deployment (AWS / Azure)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17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75737D-9C7E-9295-E034-587F4CE3E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904"/>
            <a:ext cx="9144000" cy="6450496"/>
          </a:xfrm>
        </p:spPr>
        <p:txBody>
          <a:bodyPr/>
          <a:lstStyle/>
          <a:p>
            <a:r>
              <a:rPr lang="en-IN" sz="3600" b="1" dirty="0">
                <a:solidFill>
                  <a:schemeClr val="tx2"/>
                </a:solidFill>
              </a:rPr>
              <a:t>🔄 Workflow Diagram (Conceptual)</a:t>
            </a:r>
          </a:p>
          <a:p>
            <a:r>
              <a:rPr lang="en-IN" sz="3200" dirty="0"/>
              <a:t>Data Collection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Data Cleaning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Exploratory Data Analysis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Statistical Insights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Machine Learning Models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Dashboard / Reports</a:t>
            </a:r>
            <a:br>
              <a:rPr lang="en-IN" sz="3200" dirty="0"/>
            </a:br>
            <a:r>
              <a:rPr lang="en-IN" sz="3200" dirty="0"/>
              <a:t>      ↓</a:t>
            </a:r>
            <a:br>
              <a:rPr lang="en-IN" sz="3200" dirty="0"/>
            </a:br>
            <a:r>
              <a:rPr lang="en-IN" sz="3200" dirty="0"/>
              <a:t>Agricultural Decision Making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9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76C8FA-8CBE-5B93-78A2-EDD33E20D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8843"/>
            <a:ext cx="9144000" cy="6380922"/>
          </a:xfrm>
        </p:spPr>
        <p:txBody>
          <a:bodyPr/>
          <a:lstStyle/>
          <a:p>
            <a:pPr algn="l"/>
            <a:r>
              <a:rPr lang="en-IN" sz="3200" b="1" dirty="0"/>
              <a:t>📈 </a:t>
            </a:r>
            <a:r>
              <a:rPr lang="en-IN" sz="3200" b="1" dirty="0">
                <a:solidFill>
                  <a:schemeClr val="accent4"/>
                </a:solidFill>
              </a:rPr>
              <a:t>Expected Outcomes</a:t>
            </a:r>
          </a:p>
          <a:p>
            <a:pPr algn="l"/>
            <a:r>
              <a:rPr lang="en-IN" sz="2800" dirty="0"/>
              <a:t>     Region-wise rainfall trend report</a:t>
            </a:r>
          </a:p>
          <a:p>
            <a:pPr algn="l"/>
            <a:r>
              <a:rPr lang="en-IN" sz="2800" dirty="0"/>
              <a:t>     Identification of high-risk drought/flood areas</a:t>
            </a:r>
          </a:p>
          <a:p>
            <a:pPr algn="l"/>
            <a:r>
              <a:rPr lang="en-IN" sz="2800" dirty="0"/>
              <a:t>    Seasonal rainfall comparison</a:t>
            </a:r>
          </a:p>
          <a:p>
            <a:pPr algn="l"/>
            <a:r>
              <a:rPr lang="en-IN" sz="2800" dirty="0"/>
              <a:t>    Predictive rainfall model (optional)</a:t>
            </a:r>
          </a:p>
          <a:p>
            <a:pPr algn="l"/>
            <a:r>
              <a:rPr lang="en-IN" sz="2800" dirty="0"/>
              <a:t>    Agriculture advisory dashboard</a:t>
            </a:r>
          </a:p>
          <a:p>
            <a:pPr algn="l"/>
            <a:br>
              <a:rPr lang="en-IN" dirty="0"/>
            </a:br>
            <a:endParaRPr lang="en-IN" dirty="0"/>
          </a:p>
          <a:p>
            <a:pPr algn="l"/>
            <a:r>
              <a:rPr lang="en-IN" sz="3200" b="1" dirty="0"/>
              <a:t>🌍 </a:t>
            </a: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Impact</a:t>
            </a:r>
          </a:p>
          <a:p>
            <a:pPr algn="l"/>
            <a:r>
              <a:rPr lang="en-IN" sz="2800" dirty="0"/>
              <a:t>✔ Improved crop productivity</a:t>
            </a:r>
            <a:br>
              <a:rPr lang="en-IN" sz="2800" dirty="0"/>
            </a:br>
            <a:r>
              <a:rPr lang="en-IN" sz="2800" dirty="0"/>
              <a:t>✔ Reduced agricultural losses</a:t>
            </a:r>
            <a:br>
              <a:rPr lang="en-IN" sz="2800" dirty="0"/>
            </a:br>
            <a:r>
              <a:rPr lang="en-IN" sz="2800" dirty="0"/>
              <a:t>✔ Better water resource management</a:t>
            </a:r>
            <a:br>
              <a:rPr lang="en-IN" sz="2800" dirty="0"/>
            </a:br>
            <a:r>
              <a:rPr lang="en-IN" sz="2800" dirty="0"/>
              <a:t>✔ Stronger climate adaptation strategies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864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728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🌧️ Exploratory Analysis of Rainfall Data in India for Agriculture</vt:lpstr>
      <vt:lpstr>📊 Key Components of Exploratory Analysis 1️⃣ Data Collection Source: IMD (Indian Meteorological Department), Kaggle datasets, Government Open Data Portal Data Fields:    Year   State/Region   Monthly Rainfall (Jan–Dec)   Annual Rainfall   Seasonal Rainfall  </vt:lpstr>
      <vt:lpstr>4️⃣ Statistical Analysis          Mean, Median, Standard Deviation      Coefficient of Variation (Rainfall stability)      Correlation between seasonal rainfall &amp; crop yield      Trend analysis using moving averages   5️⃣ Machine Learning (Optional Advanced Step)      Linear Regression → Rainfall trend prediction      Time Series Forecasting (ARIMA)      Clustering (K-means) → Grouping states based on rainfall similarity </vt:lpstr>
      <vt:lpstr>💧 Scenario 2: Irrigation Management        By analyzing rainfall variability:         Plan irrigation schedules efficiently         Avoid over-irrigation         Implement drip irrigation in low rainfall regions         Build rainwater harvesting structures 📌 Result:     Water conservation     Reduced crop loss    Sustainable farming </vt:lpstr>
      <vt:lpstr>Rainfall analysis helps to:     Identify drought-prone districts     Detect flood-frequency regions     Design crop insurance schemes     Develop disaster preparedness strategies 📌 Policymakers can:     Allocate subsidies efficiently     Plan relief funds     Improve climate resilience </vt:lpstr>
      <vt:lpstr>3️⃣ Analysis &amp; ML Layer    Scikit-learn    Statsmodels (Time Series)    Clustering &amp; Regression Models   4️⃣ Visualization Layer     Matplotlib     Seaborn     Plotly (Interactive dashboards)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Renuka Madugundu</dc:creator>
  <cp:lastModifiedBy>Renuka Madugundu</cp:lastModifiedBy>
  <cp:revision>1</cp:revision>
  <dcterms:created xsi:type="dcterms:W3CDTF">2026-02-20T13:56:03Z</dcterms:created>
  <dcterms:modified xsi:type="dcterms:W3CDTF">2026-02-20T17:11:21Z</dcterms:modified>
</cp:coreProperties>
</file>